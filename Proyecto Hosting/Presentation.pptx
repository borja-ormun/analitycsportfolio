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248C17-95A5-CBD9-27BA-53CF0AD03B16}" v="14" dt="2025-11-24T18:12:49.7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9469428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1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139823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01000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54748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3251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84855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6375791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2832186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69019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38F49-B3E2-4BF0-BEC7-C30D34ABBB8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15319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DA38F49-B3E2-4BF0-BEC7-C30D34ABBB8D}" type="datetime1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772761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hf sldNum="0"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microsoft.com/office/2011/relationships/webextension" Target="../webextensions/webextension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1/relationships/webextension" Target="../webextensions/webextension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946564" y="1249217"/>
            <a:ext cx="8298873" cy="2258284"/>
          </a:xfrm>
        </p:spPr>
        <p:txBody>
          <a:bodyPr anchor="b">
            <a:normAutofit/>
          </a:bodyPr>
          <a:lstStyle/>
          <a:p>
            <a:pPr algn="ctr"/>
            <a:r>
              <a:rPr lang="es-ES" sz="6600" dirty="0"/>
              <a:t>PROYECTO JÚPITER</a:t>
            </a:r>
            <a:br>
              <a:rPr lang="es-ES" sz="6600" dirty="0"/>
            </a:br>
            <a:r>
              <a:rPr lang="es-ES" sz="6600" dirty="0"/>
              <a:t>HOSTING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946564" y="4490100"/>
            <a:ext cx="8298873" cy="1282843"/>
          </a:xfrm>
        </p:spPr>
        <p:txBody>
          <a:bodyPr anchor="t">
            <a:normAutofit/>
          </a:bodyPr>
          <a:lstStyle/>
          <a:p>
            <a:pPr algn="ctr"/>
            <a:r>
              <a:rPr lang="es-ES" sz="2400"/>
              <a:t>ALEJANDRO GÓMEZ Y BORJA ORTEGA</a:t>
            </a:r>
          </a:p>
        </p:txBody>
      </p:sp>
    </p:spTree>
    <p:extLst>
      <p:ext uri="{BB962C8B-B14F-4D97-AF65-F5344CB8AC3E}">
        <p14:creationId xmlns:p14="http://schemas.microsoft.com/office/powerpoint/2010/main" val="240627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176399-E394-2AA5-309B-ECC07F648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POWER BI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9B1B16-E4B3-A148-6AD1-B0E3FD26B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INTRODUCCIÓN DATOS</a:t>
            </a:r>
            <a:br>
              <a:rPr lang="es-ES"/>
            </a:br>
            <a:r>
              <a:rPr lang="es-ES"/>
              <a:t>DIAPOSITIVA QUE YA TENEMOS CON DATOS PRINCIPALES</a:t>
            </a:r>
          </a:p>
          <a:p>
            <a:r>
              <a:rPr lang="es-ES"/>
              <a:t>QUITAR PRECIO MEDIO POR ZONA</a:t>
            </a:r>
          </a:p>
          <a:p>
            <a:r>
              <a:rPr lang="es-ES"/>
              <a:t>AÑADIR LOS DOS MAPAS COMO LOS TENÍAS</a:t>
            </a:r>
          </a:p>
          <a:p>
            <a:r>
              <a:rPr lang="es-ES"/>
              <a:t>AÑADIR NÚMERO DE ANUCUIOS SAMPLE VS AIRBNB POR ZONAS, QUE EN EL GRÁFICO SALGAN LAS DOS BARRAS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mplemento 3" title="Microsoft Power BI">
                <a:extLst>
                  <a:ext uri="{FF2B5EF4-FFF2-40B4-BE49-F238E27FC236}">
                    <a16:creationId xmlns:a16="http://schemas.microsoft.com/office/drawing/2014/main" id="{E56A3957-D20D-4B03-802E-01C850D0E19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75070967"/>
                  </p:ext>
                </p:extLst>
              </p:nvPr>
            </p:nvGraphicFramePr>
            <p:xfrm>
              <a:off x="695325" y="0"/>
              <a:ext cx="11496675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mplemento 3" title="Microsoft Power BI">
                <a:extLst>
                  <a:ext uri="{FF2B5EF4-FFF2-40B4-BE49-F238E27FC236}">
                    <a16:creationId xmlns:a16="http://schemas.microsoft.com/office/drawing/2014/main" id="{E56A3957-D20D-4B03-802E-01C850D0E19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325" y="0"/>
                <a:ext cx="11496675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27776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92E4D5-AE43-9B64-731F-6DE075B69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POWER BI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0BB97E-68BB-F59F-ED06-1A357249A1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GRAFICO PRECIO MEDIO POR TIPO DE ALOJAMIENTO</a:t>
            </a:r>
          </a:p>
          <a:p>
            <a:r>
              <a:rPr lang="es-ES"/>
              <a:t>GRAFICO PRECIO MEDIO POR ZONA</a:t>
            </a:r>
          </a:p>
          <a:p>
            <a:r>
              <a:rPr lang="es-ES"/>
              <a:t>GRAFICO PRECIO POR MESES (TIENES QUE PILLAR EL DF_FINAL PARA HACERLO)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mplemento 3" title="Microsoft Power BI">
                <a:extLst>
                  <a:ext uri="{FF2B5EF4-FFF2-40B4-BE49-F238E27FC236}">
                    <a16:creationId xmlns:a16="http://schemas.microsoft.com/office/drawing/2014/main" id="{8AAE4A32-8FEC-4DDE-A76A-DC56CAE973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95887890"/>
                  </p:ext>
                </p:extLst>
              </p:nvPr>
            </p:nvGraphicFramePr>
            <p:xfrm>
              <a:off x="714375" y="0"/>
              <a:ext cx="11477625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mplemento 3" title="Microsoft Power BI">
                <a:extLst>
                  <a:ext uri="{FF2B5EF4-FFF2-40B4-BE49-F238E27FC236}">
                    <a16:creationId xmlns:a16="http://schemas.microsoft.com/office/drawing/2014/main" id="{8AAE4A32-8FEC-4DDE-A76A-DC56CAE973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14375" y="0"/>
                <a:ext cx="11477625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2630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504F90-1579-809C-784E-D9AC2CC6A9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571" y="1009337"/>
            <a:ext cx="10890929" cy="939753"/>
          </a:xfrm>
        </p:spPr>
        <p:txBody>
          <a:bodyPr/>
          <a:lstStyle/>
          <a:p>
            <a:pPr algn="ctr"/>
            <a:r>
              <a:rPr lang="es-ES"/>
              <a:t>PARÁMETROS GENERALES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18104B2-FA4F-7A74-D10D-D45D54F4E4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1824172"/>
            <a:ext cx="5212080" cy="695373"/>
          </a:xfrm>
        </p:spPr>
        <p:txBody>
          <a:bodyPr/>
          <a:lstStyle/>
          <a:p>
            <a:pPr algn="ctr"/>
            <a:r>
              <a:rPr lang="es-ES" dirty="0"/>
              <a:t>BARCELONA</a:t>
            </a:r>
          </a:p>
        </p:txBody>
      </p:sp>
      <p:pic>
        <p:nvPicPr>
          <p:cNvPr id="8" name="Marcador de contenido 7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FC7FBD72-319D-C552-EE7F-5F9DB6B4BE9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0079" y="3013673"/>
            <a:ext cx="5212080" cy="2690179"/>
          </a:xfrm>
          <a:prstGeom prst="rect">
            <a:avLst/>
          </a:prstGeom>
        </p:spPr>
      </p:pic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6CF8EFD-B80D-0345-8F9A-28CD84FC0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1824172"/>
            <a:ext cx="5212080" cy="695373"/>
          </a:xfrm>
        </p:spPr>
        <p:txBody>
          <a:bodyPr/>
          <a:lstStyle/>
          <a:p>
            <a:pPr algn="ctr"/>
            <a:r>
              <a:rPr lang="es-ES"/>
              <a:t>VALENCIA</a:t>
            </a:r>
          </a:p>
        </p:txBody>
      </p:sp>
      <p:pic>
        <p:nvPicPr>
          <p:cNvPr id="9" name="Marcador de contenido 8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554FA7AE-8323-8824-1318-913F36C89354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318250" y="3018594"/>
            <a:ext cx="5220748" cy="2656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422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D8E15-843C-5226-0CE3-03E7AE485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ES" sz="2800"/>
              <a:t>VARIABLES AÑADIDAS PARA MEJORAR EL ANÁLISIS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B418925-D5CB-5C89-DE95-26F07A5E9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"/>
              <a:t>Calculamos una estimación de los metros cuadrados (m²) de cada inmueble según:</a:t>
            </a:r>
            <a:endParaRPr lang="en-US"/>
          </a:p>
          <a:p>
            <a:pPr marL="0" indent="0">
              <a:lnSpc>
                <a:spcPct val="100000"/>
              </a:lnSpc>
              <a:buNone/>
            </a:pPr>
            <a:endParaRPr lang="es-ES"/>
          </a:p>
          <a:p>
            <a:pPr marL="457200" indent="-457200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s-ES"/>
              <a:t>Viajeros = 12 </a:t>
            </a:r>
          </a:p>
          <a:p>
            <a:pPr marL="457200" indent="-457200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s-ES"/>
              <a:t>Habitaciones = 25 </a:t>
            </a:r>
          </a:p>
          <a:p>
            <a:pPr marL="457200" indent="-457200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s-ES"/>
              <a:t>Baños = 12 </a:t>
            </a:r>
          </a:p>
          <a:p>
            <a:pPr marL="457200" indent="-457200">
              <a:lnSpc>
                <a:spcPct val="100000"/>
              </a:lnSpc>
              <a:buFont typeface="Calibri" panose="020B0604020202020204" pitchFamily="34" charset="0"/>
              <a:buChar char="-"/>
            </a:pPr>
            <a:r>
              <a:rPr lang="es-ES"/>
              <a:t>Camas = 8 </a:t>
            </a:r>
          </a:p>
          <a:p>
            <a:pPr marL="457200" indent="-457200">
              <a:lnSpc>
                <a:spcPct val="100000"/>
              </a:lnSpc>
              <a:buFont typeface="Calibri" panose="020B0604020202020204" pitchFamily="34" charset="0"/>
              <a:buChar char="-"/>
            </a:pPr>
            <a:endParaRPr lang="es-ES"/>
          </a:p>
          <a:p>
            <a:pPr marL="0" indent="0">
              <a:lnSpc>
                <a:spcPct val="100000"/>
              </a:lnSpc>
              <a:buNone/>
            </a:pPr>
            <a:r>
              <a:rPr lang="es-ES"/>
              <a:t>Si falta algún dato, el resultado será nulo (</a:t>
            </a:r>
            <a:r>
              <a:rPr lang="es-ES" err="1"/>
              <a:t>NaN</a:t>
            </a:r>
            <a:r>
              <a:rPr lang="es-ES"/>
              <a:t>).</a:t>
            </a:r>
          </a:p>
          <a:p>
            <a:pPr marL="0" indent="0">
              <a:lnSpc>
                <a:spcPct val="100000"/>
              </a:lnSpc>
              <a:buNone/>
            </a:pPr>
            <a:endParaRPr lang="es-ES"/>
          </a:p>
          <a:p>
            <a:pPr marL="0" indent="0">
              <a:lnSpc>
                <a:spcPct val="100000"/>
              </a:lnSpc>
              <a:buNone/>
            </a:pPr>
            <a:r>
              <a:rPr lang="es-ES"/>
              <a:t>El precio m2 por barrio lo extraemos de idealista.com, son datos de octubre de 2025</a:t>
            </a:r>
          </a:p>
          <a:p>
            <a:pPr marL="0" indent="0">
              <a:lnSpc>
                <a:spcPct val="100000"/>
              </a:lnSpc>
              <a:buNone/>
            </a:pPr>
            <a:endParaRPr lang="es-ES"/>
          </a:p>
          <a:p>
            <a:pPr marL="0" indent="0">
              <a:lnSpc>
                <a:spcPct val="100000"/>
              </a:lnSpc>
              <a:buNone/>
            </a:pPr>
            <a:r>
              <a:rPr lang="es-ES"/>
              <a:t>El valor estimado por inmueble los extremos multiplicando los m2 estimados por el precio del m2 de la zona correspondiente.</a:t>
            </a:r>
          </a:p>
          <a:p>
            <a:pPr marL="0" indent="0">
              <a:lnSpc>
                <a:spcPct val="100000"/>
              </a:lnSpc>
              <a:buNone/>
            </a:pPr>
            <a:endParaRPr lang="es-ES"/>
          </a:p>
          <a:p>
            <a:pPr marL="0" indent="0">
              <a:lnSpc>
                <a:spcPct val="100000"/>
              </a:lnSpc>
              <a:buNone/>
            </a:pPr>
            <a:r>
              <a:rPr lang="es-ES" b="1"/>
              <a:t>NOTA:</a:t>
            </a:r>
            <a:r>
              <a:rPr lang="es-ES"/>
              <a:t> Es importante recalcar que son valores estimados y no tienen en cuenta muchos factores como el lujo, comodidades, terraza, etc.</a:t>
            </a:r>
          </a:p>
          <a:p>
            <a:pPr marL="0" indent="0">
              <a:lnSpc>
                <a:spcPct val="100000"/>
              </a:lnSpc>
              <a:buNone/>
            </a:pPr>
            <a:endParaRPr lang="es-ES"/>
          </a:p>
          <a:p>
            <a:pPr marL="0" indent="0">
              <a:lnSpc>
                <a:spcPct val="100000"/>
              </a:lnSpc>
              <a:buNone/>
            </a:pPr>
            <a:endParaRPr lang="es-ES"/>
          </a:p>
          <a:p>
            <a:pPr marL="0" indent="0">
              <a:lnSpc>
                <a:spcPct val="100000"/>
              </a:lnSpc>
              <a:buNone/>
            </a:pPr>
            <a:endParaRPr lang="es-ES"/>
          </a:p>
          <a:p>
            <a:pPr marL="0" indent="0">
              <a:lnSpc>
                <a:spcPct val="100000"/>
              </a:lnSpc>
              <a:buNone/>
            </a:pPr>
            <a:endParaRPr lang="es-ES"/>
          </a:p>
          <a:p>
            <a:pPr marL="0" indent="0">
              <a:lnSpc>
                <a:spcPct val="100000"/>
              </a:lnSpc>
              <a:buNone/>
            </a:pPr>
            <a:endParaRPr lang="es-ES"/>
          </a:p>
          <a:p>
            <a:pPr>
              <a:buFont typeface="Calibri" panose="020B0604020202020204" pitchFamily="34" charset="0"/>
              <a:buChar char="-"/>
            </a:pP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2232FC-0D23-DE9E-F420-850AEF99E07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endParaRPr lang="es-ES"/>
          </a:p>
          <a:p>
            <a:pPr marL="285750" indent="-285750">
              <a:buFont typeface="Calibri" panose="020B0604020202020204" pitchFamily="34" charset="0"/>
              <a:buChar char="-"/>
            </a:pPr>
            <a:endParaRPr lang="es-ES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-ES"/>
              <a:t>M2 ESTIMADOS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-ES"/>
              <a:t>PRECIO M2 ZONA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es-ES"/>
              <a:t>VALOR ESTIMADO INMUEBLE</a:t>
            </a:r>
          </a:p>
        </p:txBody>
      </p:sp>
    </p:spTree>
    <p:extLst>
      <p:ext uri="{BB962C8B-B14F-4D97-AF65-F5344CB8AC3E}">
        <p14:creationId xmlns:p14="http://schemas.microsoft.com/office/powerpoint/2010/main" val="2668345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C6D32B-3860-0E08-5FA0-A25EEA9E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POWER BI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55D4A2B-22B0-3E1F-E28B-8EEE29422B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TOP 10 ANUNCIOS MÁS CAROS BARCELONA</a:t>
            </a:r>
          </a:p>
          <a:p>
            <a:r>
              <a:rPr lang="es-ES"/>
              <a:t>TOP 10 ANUNCIOS MÁS CAROS VALENCIA</a:t>
            </a:r>
          </a:p>
          <a:p>
            <a:r>
              <a:rPr lang="es-ES"/>
              <a:t>PON ETIQUETAS DONDE PONGA: PRECIO MEDIO, VALORACIÓN MEDIA, VIAJEROS MEDIOS, HABITACIONES, BAÑOS, CAMAS (PARA CUANDO SE SELECCIONE 1 VEAMOS QUE TIENE)</a:t>
            </a:r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Complemento 3" title="Microsoft Power BI">
                <a:extLst>
                  <a:ext uri="{FF2B5EF4-FFF2-40B4-BE49-F238E27FC236}">
                    <a16:creationId xmlns:a16="http://schemas.microsoft.com/office/drawing/2014/main" id="{7E197A3D-231F-4334-8863-0D43FBC9AC4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7925798"/>
                  </p:ext>
                </p:extLst>
              </p:nvPr>
            </p:nvGraphicFramePr>
            <p:xfrm>
              <a:off x="695325" y="0"/>
              <a:ext cx="11496675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>
          <p:pic>
            <p:nvPicPr>
              <p:cNvPr id="4" name="Complemento 3" title="Microsoft Power BI">
                <a:extLst>
                  <a:ext uri="{FF2B5EF4-FFF2-40B4-BE49-F238E27FC236}">
                    <a16:creationId xmlns:a16="http://schemas.microsoft.com/office/drawing/2014/main" id="{7E197A3D-231F-4334-8863-0D43FBC9AC4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325" y="0"/>
                <a:ext cx="11496675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2951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199F95-E52B-3348-1547-506AA1510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50" y="247650"/>
            <a:ext cx="5737859" cy="109728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dirty="0"/>
              <a:t>RENTABILIDAD</a:t>
            </a:r>
          </a:p>
        </p:txBody>
      </p:sp>
      <p:pic>
        <p:nvPicPr>
          <p:cNvPr id="11" name="Marcador de contenido 10" descr="Imagen que contiene Texto&#10;&#10;El contenido generado por IA puede ser incorrecto.">
            <a:extLst>
              <a:ext uri="{FF2B5EF4-FFF2-40B4-BE49-F238E27FC236}">
                <a16:creationId xmlns:a16="http://schemas.microsoft.com/office/drawing/2014/main" id="{52BF308E-E63E-A434-73AA-474EB59DA1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00013" y="685800"/>
            <a:ext cx="4724411" cy="5175250"/>
          </a:xfrm>
          <a:prstGeom prst="rect">
            <a:avLst/>
          </a:prstGeom>
        </p:spPr>
      </p:pic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CFC791C-9CA7-2216-0917-B96F97BE44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850" y="1344930"/>
            <a:ext cx="4924425" cy="4955286"/>
          </a:xfrm>
        </p:spPr>
        <p:txBody>
          <a:bodyPr vert="horz" lIns="91440" tIns="45720" rIns="91440" bIns="45720" rtlCol="0">
            <a:normAutofit fontScale="92500" lnSpcReduction="20000"/>
          </a:bodyPr>
          <a:lstStyle/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 err="1"/>
              <a:t>Creamos</a:t>
            </a:r>
            <a:r>
              <a:rPr lang="en-US" sz="1500" dirty="0"/>
              <a:t> </a:t>
            </a:r>
            <a:r>
              <a:rPr lang="en-US" sz="1500" dirty="0" err="1"/>
              <a:t>el</a:t>
            </a:r>
            <a:r>
              <a:rPr lang="en-US" sz="1500" dirty="0"/>
              <a:t> </a:t>
            </a:r>
            <a:r>
              <a:rPr lang="en-US" sz="1500" dirty="0" err="1"/>
              <a:t>perfil</a:t>
            </a:r>
            <a:r>
              <a:rPr lang="en-US" sz="1500" dirty="0"/>
              <a:t> de </a:t>
            </a:r>
            <a:r>
              <a:rPr lang="en-US" sz="1500" dirty="0" err="1"/>
              <a:t>anuncio</a:t>
            </a:r>
            <a:r>
              <a:rPr lang="en-US" sz="1500" dirty="0"/>
              <a:t> </a:t>
            </a:r>
            <a:r>
              <a:rPr lang="en-US" sz="1500" dirty="0" err="1"/>
              <a:t>más</a:t>
            </a:r>
            <a:r>
              <a:rPr lang="en-US" sz="1500" dirty="0"/>
              <a:t> rentable de </a:t>
            </a:r>
            <a:r>
              <a:rPr lang="en-US" sz="1500" dirty="0" err="1"/>
              <a:t>cada</a:t>
            </a:r>
            <a:r>
              <a:rPr lang="en-US" sz="1500" dirty="0"/>
              <a:t> zona </a:t>
            </a:r>
            <a:r>
              <a:rPr lang="en-US" sz="1500" dirty="0" err="1"/>
              <a:t>teniendo</a:t>
            </a:r>
            <a:r>
              <a:rPr lang="en-US" sz="1500" dirty="0"/>
              <a:t> </a:t>
            </a:r>
            <a:r>
              <a:rPr lang="en-US" sz="1500" dirty="0" err="1"/>
              <a:t>en</a:t>
            </a:r>
            <a:r>
              <a:rPr lang="en-US" sz="1500" dirty="0"/>
              <a:t> </a:t>
            </a:r>
            <a:r>
              <a:rPr lang="en-US" sz="1500" dirty="0" err="1"/>
              <a:t>cuenta</a:t>
            </a:r>
            <a:r>
              <a:rPr lang="en-US" sz="1500" dirty="0"/>
              <a:t> la media del 10% </a:t>
            </a:r>
            <a:r>
              <a:rPr lang="en-US" sz="1500" dirty="0" err="1"/>
              <a:t>más</a:t>
            </a:r>
            <a:r>
              <a:rPr lang="en-US" sz="1500" dirty="0"/>
              <a:t> rentable.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El </a:t>
            </a:r>
            <a:r>
              <a:rPr lang="en-US" sz="1500" dirty="0" err="1"/>
              <a:t>análisis</a:t>
            </a:r>
            <a:r>
              <a:rPr lang="en-US" sz="1500" dirty="0"/>
              <a:t> lo </a:t>
            </a:r>
            <a:r>
              <a:rPr lang="en-US" sz="1500" dirty="0" err="1"/>
              <a:t>realizamos</a:t>
            </a:r>
            <a:r>
              <a:rPr lang="en-US" sz="1500" dirty="0"/>
              <a:t> </a:t>
            </a:r>
            <a:r>
              <a:rPr lang="en-US" sz="1500" dirty="0" err="1"/>
              <a:t>teniendo</a:t>
            </a:r>
            <a:r>
              <a:rPr lang="en-US" sz="1500" dirty="0"/>
              <a:t> </a:t>
            </a:r>
            <a:r>
              <a:rPr lang="en-US" sz="1500" dirty="0" err="1"/>
              <a:t>en</a:t>
            </a:r>
            <a:r>
              <a:rPr lang="en-US" sz="1500" dirty="0"/>
              <a:t> </a:t>
            </a:r>
            <a:r>
              <a:rPr lang="en-US" sz="1500" dirty="0" err="1"/>
              <a:t>cuenta</a:t>
            </a:r>
            <a:r>
              <a:rPr lang="en-US" sz="1500" dirty="0"/>
              <a:t> que </a:t>
            </a:r>
            <a:r>
              <a:rPr lang="en-US" sz="1500" dirty="0" err="1"/>
              <a:t>todos</a:t>
            </a:r>
            <a:r>
              <a:rPr lang="en-US" sz="1500" dirty="0"/>
              <a:t> los </a:t>
            </a:r>
            <a:r>
              <a:rPr lang="en-US" sz="1500" dirty="0" err="1"/>
              <a:t>anuncios</a:t>
            </a:r>
            <a:r>
              <a:rPr lang="en-US" sz="1500" dirty="0"/>
              <a:t> </a:t>
            </a:r>
            <a:r>
              <a:rPr lang="en-US" sz="1500" dirty="0" err="1"/>
              <a:t>tienen</a:t>
            </a:r>
            <a:r>
              <a:rPr lang="en-US" sz="1500" dirty="0"/>
              <a:t> un 80% de </a:t>
            </a:r>
            <a:r>
              <a:rPr lang="en-US" sz="1500" dirty="0" err="1"/>
              <a:t>ocupación</a:t>
            </a:r>
            <a:r>
              <a:rPr lang="en-US" sz="1500" dirty="0"/>
              <a:t>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500" dirty="0"/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Valencia </a:t>
            </a:r>
            <a:r>
              <a:rPr lang="en-US" sz="1500" dirty="0" err="1"/>
              <a:t>ofrece</a:t>
            </a:r>
            <a:r>
              <a:rPr lang="en-US" sz="1500" dirty="0"/>
              <a:t> </a:t>
            </a:r>
            <a:r>
              <a:rPr lang="en-US" sz="1500" dirty="0" err="1"/>
              <a:t>rentabilidades</a:t>
            </a:r>
            <a:r>
              <a:rPr lang="en-US" sz="1500" dirty="0"/>
              <a:t> </a:t>
            </a:r>
            <a:r>
              <a:rPr lang="en-US" sz="1500" dirty="0" err="1"/>
              <a:t>más</a:t>
            </a:r>
            <a:r>
              <a:rPr lang="en-US" sz="1500" dirty="0"/>
              <a:t> </a:t>
            </a:r>
            <a:r>
              <a:rPr lang="en-US" sz="1500" dirty="0" err="1"/>
              <a:t>estables</a:t>
            </a:r>
            <a:r>
              <a:rPr lang="en-US" sz="1500" dirty="0"/>
              <a:t> y </a:t>
            </a:r>
            <a:r>
              <a:rPr lang="en-US" sz="1500" dirty="0" err="1"/>
              <a:t>repartidas</a:t>
            </a:r>
            <a:r>
              <a:rPr lang="en-US" sz="1500" dirty="0"/>
              <a:t>; Barcelona </a:t>
            </a:r>
            <a:r>
              <a:rPr lang="en-US" sz="1500" dirty="0" err="1"/>
              <a:t>destaca</a:t>
            </a:r>
            <a:r>
              <a:rPr lang="en-US" sz="1500" dirty="0"/>
              <a:t> </a:t>
            </a:r>
            <a:r>
              <a:rPr lang="en-US" sz="1500" dirty="0" err="1"/>
              <a:t>en</a:t>
            </a:r>
            <a:r>
              <a:rPr lang="en-US" sz="1500" dirty="0"/>
              <a:t> zonas </a:t>
            </a:r>
            <a:r>
              <a:rPr lang="en-US" sz="1500" dirty="0" err="1"/>
              <a:t>muy</a:t>
            </a:r>
            <a:r>
              <a:rPr lang="en-US" sz="1500" dirty="0"/>
              <a:t> </a:t>
            </a:r>
            <a:r>
              <a:rPr lang="en-US" sz="1500" dirty="0" err="1"/>
              <a:t>concretas</a:t>
            </a:r>
            <a:r>
              <a:rPr lang="en-US" sz="1500" dirty="0"/>
              <a:t> (</a:t>
            </a:r>
            <a:r>
              <a:rPr lang="en-US" sz="1500" dirty="0" err="1"/>
              <a:t>ej</a:t>
            </a:r>
            <a:r>
              <a:rPr lang="en-US" sz="1500" dirty="0"/>
              <a:t>. Horta-</a:t>
            </a:r>
            <a:r>
              <a:rPr lang="en-US" sz="1500" dirty="0" err="1"/>
              <a:t>Guinardó</a:t>
            </a:r>
            <a:r>
              <a:rPr lang="en-US" sz="1500" dirty="0"/>
              <a:t>).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Los </a:t>
            </a:r>
            <a:r>
              <a:rPr lang="en-US" sz="1500" dirty="0" err="1"/>
              <a:t>inmuebles</a:t>
            </a:r>
            <a:r>
              <a:rPr lang="en-US" sz="1500" dirty="0"/>
              <a:t> </a:t>
            </a:r>
            <a:r>
              <a:rPr lang="en-US" sz="1500" dirty="0" err="1"/>
              <a:t>más</a:t>
            </a:r>
            <a:r>
              <a:rPr lang="en-US" sz="1500" dirty="0"/>
              <a:t> </a:t>
            </a:r>
            <a:r>
              <a:rPr lang="en-US" sz="1500" dirty="0" err="1"/>
              <a:t>rentables</a:t>
            </a:r>
            <a:r>
              <a:rPr lang="en-US" sz="1500" dirty="0"/>
              <a:t> son </a:t>
            </a:r>
            <a:r>
              <a:rPr lang="en-US" sz="1500" dirty="0" err="1"/>
              <a:t>pisos</a:t>
            </a:r>
            <a:r>
              <a:rPr lang="en-US" sz="1500" dirty="0"/>
              <a:t> </a:t>
            </a:r>
            <a:r>
              <a:rPr lang="en-US" sz="1500" dirty="0" err="1"/>
              <a:t>pequeños</a:t>
            </a:r>
            <a:r>
              <a:rPr lang="en-US" sz="1500" dirty="0"/>
              <a:t> (1 hab., 1 </a:t>
            </a:r>
            <a:r>
              <a:rPr lang="en-US" sz="1500" dirty="0" err="1"/>
              <a:t>baño</a:t>
            </a:r>
            <a:r>
              <a:rPr lang="en-US" sz="1500" dirty="0"/>
              <a:t>) para 2–3 </a:t>
            </a:r>
            <a:r>
              <a:rPr lang="en-US" sz="1500" dirty="0" err="1"/>
              <a:t>huéspedes</a:t>
            </a:r>
            <a:r>
              <a:rPr lang="en-US" sz="1500" dirty="0"/>
              <a:t>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 err="1"/>
              <a:t>Suelen</a:t>
            </a:r>
            <a:r>
              <a:rPr lang="en-US" sz="1500" dirty="0"/>
              <a:t> costar entre 180.000 € y 400.000 € y </a:t>
            </a:r>
            <a:r>
              <a:rPr lang="en-US" sz="1500" dirty="0" err="1"/>
              <a:t>alquilarse</a:t>
            </a:r>
            <a:r>
              <a:rPr lang="en-US" sz="1500" dirty="0"/>
              <a:t> por 200–350 €/</a:t>
            </a:r>
            <a:r>
              <a:rPr lang="en-US" sz="1500" dirty="0" err="1"/>
              <a:t>noche</a:t>
            </a:r>
            <a:r>
              <a:rPr lang="en-US" sz="1500" dirty="0"/>
              <a:t>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Las </a:t>
            </a:r>
            <a:r>
              <a:rPr lang="en-US" sz="1500" dirty="0" err="1"/>
              <a:t>rentabilidades</a:t>
            </a:r>
            <a:r>
              <a:rPr lang="en-US" sz="1500" dirty="0"/>
              <a:t> </a:t>
            </a:r>
            <a:r>
              <a:rPr lang="en-US" sz="1500" dirty="0" err="1"/>
              <a:t>más</a:t>
            </a:r>
            <a:r>
              <a:rPr lang="en-US" sz="1500" dirty="0"/>
              <a:t> </a:t>
            </a:r>
            <a:r>
              <a:rPr lang="en-US" sz="1500" dirty="0" err="1"/>
              <a:t>altas</a:t>
            </a:r>
            <a:r>
              <a:rPr lang="en-US" sz="1500" dirty="0"/>
              <a:t> se </a:t>
            </a:r>
            <a:r>
              <a:rPr lang="en-US" sz="1500" dirty="0" err="1"/>
              <a:t>mueven</a:t>
            </a:r>
            <a:r>
              <a:rPr lang="en-US" sz="1500" dirty="0"/>
              <a:t> entre </a:t>
            </a:r>
            <a:r>
              <a:rPr lang="en-US" sz="1500" dirty="0" err="1"/>
              <a:t>el</a:t>
            </a:r>
            <a:r>
              <a:rPr lang="en-US" sz="1500" dirty="0"/>
              <a:t> 25 % y </a:t>
            </a:r>
            <a:r>
              <a:rPr lang="en-US" sz="1500" dirty="0" err="1"/>
              <a:t>el</a:t>
            </a:r>
            <a:r>
              <a:rPr lang="en-US" sz="1500" dirty="0"/>
              <a:t> 40 % </a:t>
            </a:r>
            <a:r>
              <a:rPr lang="en-US" sz="1500" dirty="0" err="1"/>
              <a:t>anual</a:t>
            </a:r>
            <a:r>
              <a:rPr lang="en-US" sz="1500" dirty="0"/>
              <a:t>.</a:t>
            </a:r>
          </a:p>
          <a:p>
            <a:pPr marL="285750" indent="-28575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1500" dirty="0"/>
              <a:t>El </a:t>
            </a:r>
            <a:r>
              <a:rPr lang="en-US" sz="1500" dirty="0" err="1"/>
              <a:t>perfil</a:t>
            </a:r>
            <a:r>
              <a:rPr lang="en-US" sz="1500" dirty="0"/>
              <a:t> ideal de </a:t>
            </a:r>
            <a:r>
              <a:rPr lang="en-US" sz="1500" dirty="0" err="1"/>
              <a:t>inversión</a:t>
            </a:r>
            <a:r>
              <a:rPr lang="en-US" sz="1500" dirty="0"/>
              <a:t>: </a:t>
            </a:r>
            <a:r>
              <a:rPr lang="en-US" sz="1500" dirty="0" err="1"/>
              <a:t>viviendas</a:t>
            </a:r>
            <a:r>
              <a:rPr lang="en-US" sz="1500" dirty="0"/>
              <a:t> </a:t>
            </a:r>
            <a:r>
              <a:rPr lang="en-US" sz="1500" dirty="0" err="1"/>
              <a:t>pequeñas</a:t>
            </a:r>
            <a:r>
              <a:rPr lang="en-US" sz="1500" dirty="0"/>
              <a:t> </a:t>
            </a:r>
            <a:r>
              <a:rPr lang="en-US" sz="1500" dirty="0" err="1"/>
              <a:t>en</a:t>
            </a:r>
            <a:r>
              <a:rPr lang="en-US" sz="1500" dirty="0"/>
              <a:t> barrios de </a:t>
            </a:r>
            <a:r>
              <a:rPr lang="en-US" sz="1500" dirty="0" err="1"/>
              <a:t>clase</a:t>
            </a:r>
            <a:r>
              <a:rPr lang="en-US" sz="1500" dirty="0"/>
              <a:t> media o media-</a:t>
            </a:r>
            <a:r>
              <a:rPr lang="en-US" sz="1500" dirty="0" err="1"/>
              <a:t>alta</a:t>
            </a:r>
            <a:r>
              <a:rPr lang="en-US" sz="1500" dirty="0"/>
              <a:t>, </a:t>
            </a:r>
            <a:r>
              <a:rPr lang="en-US" sz="1500" dirty="0" err="1"/>
              <a:t>priorizando</a:t>
            </a:r>
            <a:r>
              <a:rPr lang="en-US" sz="1500" dirty="0"/>
              <a:t> </a:t>
            </a:r>
            <a:r>
              <a:rPr lang="en-US" sz="1500" dirty="0" err="1"/>
              <a:t>ubicación</a:t>
            </a:r>
            <a:r>
              <a:rPr lang="en-US" sz="1500" dirty="0"/>
              <a:t> y </a:t>
            </a:r>
            <a:r>
              <a:rPr lang="en-US" sz="1500" dirty="0" err="1"/>
              <a:t>eficiencia</a:t>
            </a:r>
            <a:r>
              <a:rPr lang="en-US" sz="1500" dirty="0"/>
              <a:t>.</a:t>
            </a:r>
          </a:p>
          <a:p>
            <a:pPr>
              <a:lnSpc>
                <a:spcPct val="110000"/>
              </a:lnSpc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47952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3AED5-465D-18DE-C319-F17E538F1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4070143" cy="1839433"/>
          </a:xfrm>
        </p:spPr>
        <p:txBody>
          <a:bodyPr>
            <a:normAutofit/>
          </a:bodyPr>
          <a:lstStyle/>
          <a:p>
            <a:r>
              <a:rPr lang="es-ES"/>
              <a:t>ESTRATÉGIAS DE INVERSIÓN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721D347-0F7F-6197-7C4E-EA5A2D74B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86" y="1010097"/>
            <a:ext cx="6141734" cy="5314686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s-ES" sz="1600" b="1"/>
              <a:t>Estrategia Conservadora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600"/>
              <a:t>Prioriza zonas estables con demanda sólida y precios menos volátiles. Busca seguridad, ingresos constantes y menor riesgo. Ideal para mantener estabilidad a largo plazo.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s-ES" sz="1600" b="1"/>
              <a:t>Estrategia Agresiva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600"/>
              <a:t>Se enfoca en los inmuebles con mayor rentabilidad potencial, aunque estén en zonas más variables. Busca maximizar retornos asumiendo mayor riesgo y concentración.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s-ES" sz="1600" b="1"/>
              <a:t>Estrategia Diversificada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600"/>
              <a:t>Reparte la inversión entre distintas ciudades y barrios, equilibrando oportunidades de rentabilidad con estabilidad. Reduce la exposición a variaciones del mercado o estacionalidad.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r>
              <a:rPr lang="es-ES" sz="1600" b="1"/>
              <a:t>Estrategia Mixta (40% / 30% / 30%)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s-ES" sz="1600"/>
              <a:t>Combina estabilidad, rendimiento y diversificación. Aporta equilibrio entre seguridad, alto potencial de retorno y protección frente a fluctuaciones.</a:t>
            </a:r>
          </a:p>
          <a:p>
            <a:pPr>
              <a:lnSpc>
                <a:spcPct val="110000"/>
              </a:lnSpc>
              <a:buFont typeface="Calibri" panose="020B0604020202020204" pitchFamily="34" charset="0"/>
              <a:buChar char="-"/>
            </a:pPr>
            <a:endParaRPr lang="es-ES" sz="1600"/>
          </a:p>
        </p:txBody>
      </p:sp>
    </p:spTree>
    <p:extLst>
      <p:ext uri="{BB962C8B-B14F-4D97-AF65-F5344CB8AC3E}">
        <p14:creationId xmlns:p14="http://schemas.microsoft.com/office/powerpoint/2010/main" val="11567704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n 3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8B3C264F-06B0-D0E5-0BF0-025BCF55B0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3712" y="185711"/>
            <a:ext cx="7824576" cy="2069425"/>
          </a:xfrm>
          <a:prstGeom prst="rect">
            <a:avLst/>
          </a:prstGeom>
        </p:spPr>
      </p:pic>
      <p:pic>
        <p:nvPicPr>
          <p:cNvPr id="38" name="Imagen 37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5CAF477D-0F2D-4733-620E-EAF61898F0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7175" y="2460582"/>
            <a:ext cx="4217151" cy="1758350"/>
          </a:xfrm>
          <a:prstGeom prst="rect">
            <a:avLst/>
          </a:prstGeom>
        </p:spPr>
      </p:pic>
      <p:pic>
        <p:nvPicPr>
          <p:cNvPr id="39" name="Imagen 38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0A2C809F-450D-5478-EE29-A33B1EE5B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3987" y="4477973"/>
            <a:ext cx="4217151" cy="1740494"/>
          </a:xfrm>
          <a:prstGeom prst="rect">
            <a:avLst/>
          </a:prstGeom>
        </p:spPr>
      </p:pic>
      <p:pic>
        <p:nvPicPr>
          <p:cNvPr id="40" name="Imagen 39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C0031B70-7788-6F93-9368-616F2B7652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62" y="4424378"/>
            <a:ext cx="4217151" cy="1794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637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D71A5B-18F4-E97F-D2AC-F97F4CC3E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0"/>
            <a:ext cx="3794760" cy="4144684"/>
          </a:xfrm>
        </p:spPr>
        <p:txBody>
          <a:bodyPr anchor="t">
            <a:normAutofit/>
          </a:bodyPr>
          <a:lstStyle/>
          <a:p>
            <a:r>
              <a:rPr lang="es-ES" sz="3700"/>
              <a:t>CONCLUSIONES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27618A-C0A1-0E12-A210-F424B574D0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8072" y="1051559"/>
            <a:ext cx="6382937" cy="52486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>
                <a:ea typeface="+mn-lt"/>
                <a:cs typeface="+mn-lt"/>
              </a:rPr>
              <a:t>Inversión ideal: apartamentos pequeños/medianos en barrios estratégicos de Valencia y Barcelona.</a:t>
            </a:r>
            <a:endParaRPr lang="es-ES"/>
          </a:p>
          <a:p>
            <a:r>
              <a:rPr lang="es-ES">
                <a:ea typeface="+mn-lt"/>
                <a:cs typeface="+mn-lt"/>
              </a:rPr>
              <a:t>Rentabilidad: maximizar el retorno ajustando la inversión a propiedades con alto potencial de ingresos y ocupación estable.</a:t>
            </a:r>
          </a:p>
          <a:p>
            <a:r>
              <a:rPr lang="es-ES">
                <a:ea typeface="+mn-lt"/>
                <a:cs typeface="+mn-lt"/>
              </a:rPr>
              <a:t>Estrategias combinadas: equilibran seguridad, alto rendimiento y diversificación geográfica.</a:t>
            </a:r>
            <a:endParaRPr lang="es-ES"/>
          </a:p>
          <a:p>
            <a:r>
              <a:rPr lang="es-ES">
                <a:ea typeface="+mn-lt"/>
                <a:cs typeface="+mn-lt"/>
              </a:rPr>
              <a:t>Beneficio: asegura flujo de ingresos estable y crecimiento sostenible.</a:t>
            </a:r>
            <a:endParaRPr lang="es-ES"/>
          </a:p>
          <a:p>
            <a:r>
              <a:rPr lang="es-ES">
                <a:ea typeface="+mn-lt"/>
                <a:cs typeface="+mn-lt"/>
              </a:rPr>
              <a:t>Adaptabilidad: ajustar inversión según cambios en demanda y precios del mercado.</a:t>
            </a:r>
          </a:p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9139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1B720708-F56A-48DD-A66D-C32A238AD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6564" y="1249217"/>
            <a:ext cx="8298873" cy="2258284"/>
          </a:xfrm>
        </p:spPr>
        <p:txBody>
          <a:bodyPr anchor="b">
            <a:normAutofit/>
          </a:bodyPr>
          <a:lstStyle/>
          <a:p>
            <a:pPr algn="ctr"/>
            <a:r>
              <a:rPr lang="es-ES" sz="6600" dirty="0"/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2406656220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webextensions/webextension1.xml><?xml version="1.0" encoding="utf-8"?>
<we:webextension xmlns:we="http://schemas.microsoft.com/office/webextensions/webextension/2010/11" id="{6C6A428B-CCBC-4BA2-A989-F64744D4E42E}">
  <we:reference id="wa200003233" version="2.0.0.3" store="es-ES" storeType="OMEX"/>
  <we:alternateReferences>
    <we:reference id="wa200003233" version="2.0.0.3" store="wa200003233" storeType="OMEX"/>
  </we:alternateReferences>
  <we:properties>
    <we:property name="backgroundColor" value="&quot;#FFFFFF&quot;"/>
    <we:property name="bookmark" value="&quot;H4sIAAAAAAAAA+1a227bRhD9FYEveVHZvZB7yVviJGiBJjDqIH0ojGC4u7IZUFyBpNw4hr+qn9Af65CUb4rkUdI6sZO8GNbyaHfmnLksd3WW+LJdVHD6CuYheZy8hMaBj82EJ9OkHse4sjPIDBPaeS6Lwimr8WlcdGWs2+TxWdJBcxS6N2W7hKqfCAf/TAwvhNQ8A8O85U4w701yOE2gqvbhqMfMoGrDNFmEpo01VOWHME6Bj7pmGc6nSXi/qGID/UIHHXShX+wE4fi5NyyVaAe4rjwJB8F14+gscAtWSS6lZIHj4q53ph0Bg70bIf3Uw/J7se6grHGZfiyzQkvBVQhWqFAE4ZXtx9uyPqpWBl999/XpoqcMhrWeLrsOTUKqine4ej/d+Tl6xbPMMQ8cKdFKWsNYoQazyqpbrVqcPn+/aJBGJHec8ok/gdoFnwysNKEdSThLXgZol81AzfMbDw7isnHh9zAbHtVd2Z32CgdfemgnfvbWxfkCGnDlP3/XSW/YfhNRjAH2OnZQTZ7Uy9qVsR2eHse/9pqAKvjkMTs/xJFbOXDQ+Ju+44fGh+bp6eDXs7K50ExM10z/Qj6hE4iYSR1mxSznMg+CMWCgwxeX40WJGRDadZP3kaMyTnpUnCwwL+vojsMDkeNTfRrlcNYpYQquhCi8caGQXt4XOcYI8mECDysxPsGdUQThXS4k06pQumDM5gKKj0QYewaWyDwrdMYKC9poLG25yobxVf/Y+Hh6odwe8nYUm9IhU9PV/P2X31yUeeTgRRPnAzWrLtXTd+nj9aQfqu1IMwoxTf44Dj1Z+E0s6r7sVmT9Wt8ksF1BquW8JqgdPww2rJHpyqWHfhTXfQPVcuiCOO1vJXo0hsEwjNBHT7HNhgqb3qMBvwWF/wSUZQQdDtKsh/dONm+japsDNyOa9wP3OuOmZ5uD6T9SNestWrdnbzNJO6S9j/Wy2zuGprvPyX+xn0Lgu2s7phWxp7snyu5MHg6borzQTFqPe6GM5QyCACu2l/1VaVEcjOqhPuPMFUUmuf0GS0tXLuJbqOI7mJeh7uJuRaZ3owmT4zgPP8Oiu7XU/BK7UE2aGOe3wvab8gRJpYEHGOfBX+Huvnpt4Gi9jk0v48YbqXRuNReZ1sYJKwL7f+NmDPkfEfO1I2Zj6SFj5XpP+U4b3TPoPnN7Wy1blDd43OT8aHe3ZuTQ+DxusCUTjimXm8w6qwPd+DLnpDBOG8CttWdWqZx/g43v8/fUX3G7PL2mEhR+xhjPhWVaFx7/fK028yp2H/t9J6JVgPYtd1TtUqy7q/ZX9myopyulGMwYODXDzScLEJhRTHwHSsX6aHepfpKplvrWJt5DckNARGr4DhgrSAwmFY0RFEamTGQkRoicxOSasjnDeai1EGMtiZGMk5hMUjZnqVH0PGYHv4yhbM7TXCoSoyTFT55qTmmqUkaGKmK0JDGSjDGVZpziR2HMU76rHeJZ7RDPiCH1Uug8AdEpyygpdMpzyi3EkDTrVJCSIkbQ80hOhbNGuXbACIpCxJDhrNOcDI0eQ5XDHkOlF2IszWFOlhadKk3rrslQRQwZhjo1jCpROrUZzY9VdGxYskSZHcoGYjJKd4PxTPllUkm2SpMqkh/EkCXcpEZQGIs2U/YgJiN4zljKLTFPxlND5k6qVybf8e7wag/05c4AiIvKGzdkr7bc+D2IwwD4gOy8hMXHl+Abfx6w9bX3AZzvt1Xp8LXguqPJPDRHQ3AchXoMcfRlMa5WhvbK35v/PaCDxr1PeEPfcJ81nsF46GADNfPoB/LCEAXb3vrb0vUTXtxcbjzPubTsji4vnGRSQm6dLpzhomAhz+5BMH+INTyUs83dzxVHbn4cLa7LPPbJ880FKC67dgEu7EMdNqQaqg+175W4Nd2GX2xdJtv5+b/6anVnPyYAAA==&quot;"/>
    <we:property name="creatorSessionId" value="&quot;b9c4bb47-cfc4-4270-a23a-0928f2901fc1&quot;"/>
    <we:property name="creatorTenantId" value="&quot;3b7939ac-b56c-4f67-a095-2db24f043c62&quot;"/>
    <we:property name="creatorUserId" value="&quot;1003200557C3AFDA&quot;"/>
    <we:property name="datasetId" value="&quot;9ead4078-c483-4f41-bb70-f138a8acaed7&quot;"/>
    <we:property name="embedUrl" value="&quot;/reportEmbed?reportId=f1285beb-622d-41ca-8bba-b88d3d86c72c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initialStateBookmark" value="&quot;H4sIAAAAAAAAA+1a2W7cNhT9lYFe+jJVuUhc8mY7CVqkdow4SB8KI6BIjq1AIw60uHGM+ap+Qn+sV9J4m8z4Kmmd2EleDIs6Iu895y4UNReRy+tFYc4PzNxHT6J9U1njQjWh0TQqh7Hdly9f7O+8evH2YGf/GQyHRZOHso6eXESNqU588yavW1N0M8Dgn8fTyBTFoTnprmamqP00WviqDqUp8g9+AMOtpmr9chr594siVKab8qgxje+mPQM4XMPaNOaworFNfuaPvG2G0Zmn2mjBKeeceEqctp299QDoLdsI6abul98LZWPyEpbpxhLNJGdUeK+Z8JlnTuhuvM7Lk2Jl8PWzr88XHSumX2u3bRowCUjJ3sHq3XTLJXhFk8QSZygjTgquFSGZ6M3Ki2a1anb+7P2iAsKAxmHKHXdmSutd1LNS+Xog4SLa96Zuq56aZ7duHIW2sv6Vn/W3yiZvzjsRvcudqSdu9taG+cJUxub//F1GnWGHVQAxetjr0JhislO2pc1D3d89DX/tVR5UcNETsjyGkTs5sKZyt32Hi8r5ave89+tpXl1qxqZrpn8hn8AJQMy49LNsllKeekaIIUb6Ly7H8xwywNfrJh8CR3mYdKgwWUDqlcGe+kcix6f6NMhhtRVMZVQwljllfcYdfyhyDBHk/MQ8rsT4BHcGEZizKeNEikzIjBCdMpN9JMLQFqBEpkkmE5JpI5WE0paKpB9ftYiNt6eXyu0Bbyehyi0wNV3N3z385rLMAwfPqzDvqVk1oo6+Kx9vJn1fbQeaQYhp9Mep78iCJ6Gou7xZkfVbeZvAegUp2nmJUDtc9DaskWnz1pluFNZ9Y4q273cw7e85eDSEQT8M0J92oZP6ApreTz1+Cwr+8SDLADrupVkP71E2b6NqmwO3I5p2Aw8646YXm4PpP1I16yxat2dvM0kj0t6Fsm32Tk3VPOTkv9xPAfDdjR3Titjz8YkynsnjflOUZpJw7WAvlJCUGM+MZtvL/qq0CGqU6KAuocRmWcKp/gZLS5MvwltThHdmnvuyCeOKTOdG5SenYe5/MYvmzlLza2h8MalCmN8JO6zyMyAVBx5BnHt3jbv/6rWBo/U6Nr2KG6e4kKmWlCVSKss08+T/jZsh5H9EzNeOmI2lB42Vmz3lO210T03zmdvboq1BXu9gk/Oj3d2ZkX3jc7DB5oRZImyqEm219HjjS6zlTFmpDGytHdFCpPQbbHyfv6f+itvl6Q2VTOZmhNCUaSJl5uDP12ozB6H52O97Ea0wYF87UrUrse6v2l/bs6GerpQiZkaMFTPYfBJvPFGCsO9AqVCejJfqZx5LLu9s4h0kVQiExYqOwGiGYiCpcAzDMDwmLEExjKUoJpWYzQnMg60FGK1RDCcUxSQcszmJlcDnUSP8UgqzOY1TLlCM4Bg/aSwppqmICRqqgJEcxXA0xkScUIwfATGP+S5GxLMYEc+AQfUS4DwCkTFJMClkTFPMLcCgNMuYoZIChuHzcIqFswS5RmAYRiFg0HCWcYqGRofBymGHwdILMBrnMEVLi4yFxHWXaKgCBg1DGSuClSgZ6wTnRws8NjRaotSIsgGYBNNdQTxjfqmYo61SxQLlBzBoCVexYhhGg82YPYBJEJ4TElONzJPQWKG5E8uVyfe8O7zeA325MwDkQ+WtL2QHW774PYrDAPMB2Nk3i48/giuaMS5pYhRxmlpGnFPbX3sfwfl+XeQWXgtuOhrNfXXSB4czjekdWQxL5X64H1x/2/d+bnuvrXPbJcLlt7mNJxZXm/d7Op63nHBuUm1lZhVlGfFp8gDk+gDv+4/l9G78ydnAzY/Ds3WZh06w3JxioW3qhbH+0JR+Q6qB+qZ0nRJ3plv/m6SoXwS0ybMCy8/ul0pXyblc/guC5M7HNCUAAA==&quot;"/>
    <we:property name="isFiltersActionButtonVisible" value="true"/>
    <we:property name="isVisualContainerHeaderHidden" value="false"/>
    <we:property name="pageDisplayName" value="&quot; INTRODUCCIÓN&quot;"/>
    <we:property name="pageName" value="&quot;fe19a96313330e10d9c1&quot;"/>
    <we:property name="reportEmbeddedTime" value="&quot;2025-11-24T22:55:48.647Z&quot;"/>
    <we:property name="reportName" value="&quot;proyecto_hosting&quot;"/>
    <we:property name="reportState" value="&quot;CONNECTED&quot;"/>
    <we:property name="reportUrl" value="&quot;/groups/me/reports/f1285beb-622d-41ca-8bba-b88d3d86c72c/fe19a96313330e10d9c1?experience=power-bi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B766CFC3-A81C-4AED-97F2-8C26A45C8A2E}">
  <we:reference id="wa200003233" version="2.0.0.3" store="es-ES" storeType="OMEX"/>
  <we:alternateReferences>
    <we:reference id="wa200003233" version="2.0.0.3" store="wa200003233" storeType="OMEX"/>
  </we:alternateReferences>
  <we:properties>
    <we:property name="backgroundColor" value="&quot;#FFFFFF&quot;"/>
    <we:property name="bookmark" value="&quot;H4sIAAAAAAAAA+1YTW/jNhD9K4YuezFa6oOSnVvjzaIFmsBoivRQLBYjcmQzoEWBotL1Bv7vO6S8iZP117YOggK52Bb5NHwzb/go+T6Sqm00LK9ggdFZdAlWgDR2EEfDqO7HKoxjlo0y5CKJy4IJBKBZ0zhl6jY6u48c2Bm6G9V2oH0gGvw7SscCOeOZyADYKM8LFifRx2EEWk9h5jEV6BaHUYO2NTVo9QX7EDTlbIerYYSfG20s+IWuHTj0i90RnK6JWPxTSjxAOHWH1yhcPwpQAitzjhlgnqQFcOFhbQ8IfLdCfOiw/MTUDlRNy/ixLClGPB6lBY/HkMQSMsz8eKW0W0PK5cXnxlLO999KhiC4yDgrsGQ8GY95wnLi4JaNn51QJjNjlQBNg30gH+fmW2bJMPpgzSJEXAsjCXlRO+WW/qL6JMyiAQvC44fRnyEwW1F5/5qjxXAn5SFVX5T76Lfw6Xli2/Z1CBDdLZ7N+Ktr01mBf2D1eBE4rEiTqTWkWOAhVCfBj9K6N6C7IDyF/V1RRpScz8kPE/TdOXUWatL5XcDvQNEPrIXqQR9X9NF3wQa3ozjvKtWuBIbR3PwzsUjKyOgsXg0fpOQwZjmTTMQpT7KEpzEWp5WyUnW4+5VEdKoxn0CbW1gorJ05Tk6fgMXB3CzwZ2jcXlF/NQ71wBqz2AubWnVH5TwMvJ6DRfmIO1Gf9Docrs7TXmG+V9bd8Iu8g1qgF/gpl0uEtrN4LJlLlEpCO/jgGZEKzzhNLVIzDzzKDBoy69qIOe5l9rRPX6JQ78GZdgsHL0yr6plem/ujz/b9HgndtaQxSnKICSnr/NlS3pJde3Olu42VaM+XodffU9OtjZ521sVrFNnvjv7MIfTtxqmyrvHy+E35b7rPN/swYizOME5ZQe4kmcxKnpY+4t5KQ+B63jkXDo2NIvuQAtN0JIqCC8FyOhIpNhw86EAUWMmykCwXQF+55Oy13PHKuO/r/SKW+YWOseNs8sGfXs6h1mTeXOm0rhSWf/Oj7Y0fDCNFnqSMnnLHBUpgOB4hHjQMxnM5krwalaNSZCUW9HD13wyj2jSMCsUc2te1i+p51a7MorR4GTQ97Bl1p/XpXGNdkD2M3oxjW6dPtr8ZHOEcml4df8Q34ue+cWqBX8IgDq+69ohtfwLs9Ij/gbqtVoI8aVPaaIF2FjaDBAchkaZfSmE/b2SYxpDnrtfjVgn/tBD2/GqHYg/WcfJC9G6z2p6X6VzbgMAp1LglP8oLaukLuDfH8HfPQ4ar1VdcX2YyfBIAAA==&quot;"/>
    <we:property name="creatorSessionId" value="&quot;c2be6e23-fcb9-4ebd-8084-c40039a09a41&quot;"/>
    <we:property name="creatorTenantId" value="&quot;3b7939ac-b56c-4f67-a095-2db24f043c62&quot;"/>
    <we:property name="creatorUserId" value="&quot;1003200557C3AFDA&quot;"/>
    <we:property name="datasetId" value="&quot;9ead4078-c483-4f41-bb70-f138a8acaed7&quot;"/>
    <we:property name="embedUrl" value="&quot;/reportEmbed?reportId=f1285beb-622d-41ca-8bba-b88d3d86c72c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initialStateBookmark" value="&quot;H4sIAAAAAAAAA+1YTW/bOBD9K4YuvRi71Jdl55a4KXbRdWo0i+yhKIIRObIZUKJAUdm6gf97h5SbOKm/uusgKJCLbVKj4cx7j4+W7gIhm1rB4gJKDE6CCRgOQpteGPSDqps7+/Dh/eT04/vri9PJOU3r2kpdNcHJXWDBzNBeyaYF5TLQ5KfP/QCUmsLMjQpQDfaDGk2jK1DyK3bBdMmaFpf9AL/UShtwKS8tWHRpbymcxrR2+FtMKwK38hYvkdtuFiAHlg9STAAHUZxByl1Y0wX4yjaGuNR++bGuLMiKlnFzSZQN03AYZ2k4gigUkGDi5gup7CokX5x/qQ11d/cdFQSe8iRlGeYsjUajNGIDqsEuand1TJ3MtJEcFE12iVyeq++dRf3gndGlz7jCXlDkeWWlXbhBcc11WYMB7uL7wd8+MVsSvP/M0aC/k/oQsgPlLvjTf7o6sWk6HHyIassnV9zoUreG40csHga+hiVxMjWaGPN1cNkKcLO07hWo1lNMaf+S1BE153py0xT65ozEg4p4fuPjt0TRD6y47II+L+mjU8FabQfVvA2qbQ30g7n+d2yQmBHBSbjs31OZwogNmGA8jNMoidI4xOy4VBay8ne/EIlW1voalL6BUmJl9WF0ugYM9ua6xN+htjtJ/UNbVD2jdbkzbGrkLcG5P/ByDgbFQ9yRdNLxsB+dx1phTisrNZyKW6g4OoIf1zJBaFqDhxYzQSEFNL13riJi4UlNU4Mk5p6L0r2a/LjSfI47K3us0+cA6i1Y3WyowRHTyGqmVub+4LOd3gOu2oY4RkEOMSZmrTtF8huya2eudLc2As3Zwmv9LYluZfS0s85fAmS3O7ozh6Jv1k6VFcaLwzflf1GfE3s/YCxMMIxZRu4kmEjyNM5dxp1Ig6/1rLXWHxprILuUHON4yLMs5ZwN6Eik3LD3oAOeYSHyTLABB/oaiJS9lDteaPsj3s9imV/pGDvMJu/96fkcalXMqysd15X88q9+tFn43jBiTKOY0b/cUYYCGI6GiHsNg6UDMRRpMcyHOU9yzOjP1f8zjGLdMArkc2he1i6Kp6hd6DI3OPGc7veMqlXqeK6xAmRHRa/GsUnp481PBgc4h6JHx5/xjfCpbxyb4OcwiP2rrjxixDFlacITADYcDDIWRts94hdgt1GSkyetUxuUaGZ+M8yw6nYz9VJ3q0lsHvp9/OsXekYc/8SD/oZH+E6DAixsgKbUwoOHXgXbXh40kruEXboter6v7Ogy6bx4uZl13dqmBo5TqHBDf9QXVMLJa2eP/mVY4Bchwclc7QPFvSK7R2S5/AZqk9UZrRMAAA==&quot;"/>
    <we:property name="isFiltersActionButtonVisible" value="true"/>
    <we:property name="isVisualContainerHeaderHidden" value="false"/>
    <we:property name="pageDisplayName" value="&quot;PARÁMETROS PRECIO&quot;"/>
    <we:property name="pageName" value="&quot;aaba0b65e4ae6237a5c3&quot;"/>
    <we:property name="reportEmbeddedTime" value="&quot;2025-11-24T22:56:31.326Z&quot;"/>
    <we:property name="reportName" value="&quot;proyecto_hosting&quot;"/>
    <we:property name="reportState" value="&quot;CONNECTED&quot;"/>
    <we:property name="reportUrl" value="&quot;/groups/me/reports/f1285beb-622d-41ca-8bba-b88d3d86c72c/aaba0b65e4ae6237a5c3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582EF74E-F759-43C5-8498-907A5CC4681A}">
  <we:reference id="wa200003233" version="2.0.0.3" store="es-ES" storeType="OMEX"/>
  <we:alternateReferences>
    <we:reference id="wa200003233" version="2.0.0.3" store="wa200003233" storeType="OMEX"/>
  </we:alternateReferences>
  <we:properties>
    <we:property name="backgroundColor" value="&quot;#FFFFFF&quot;"/>
    <we:property name="bookmark" value="&quot;H4sIAAAAAAAAA+1a227bRhD9lYIveRGKvXGXm7dESYCiaZrGQfpQGMbs7lBegyJVikrjGP6ofkN/rENSSlxFVOXUdtg4BgyQe52ZM3NmhvZFEuJyUcD5C5hj8jD5CWoPoaq/48kkKfsxaTTLuBfeSI0+45ZJR7PVoolVuUweXiQN1DNs3sTlCor2IBr87XiSQFG8hFn7lkOxxEmywHpZlVDE99gvpqmmXuHlJMF3i6KqoT3yqIEG22Pf0nJ6JxH495JuBN/Et3iEvulHLQQnVR6sCUEz9F4qRcuW/YJOsp1L2qO766dV2UAs6Zp2TCh0QqAHJTStdcwyaMfzWDTrJe786btFTdqRzueL1jiPwlsoPYakU6HGZS/xRfJoNqtxBs369ek/JqdVsZrvGD+qVrXHV5h3U2UTm3O6I+QnC7KSg+SSLPWyrsiO3cRcnOCyiXNCbNnNPVuVa+Pw9vW0+mNaI1kzJA/Z5TGNLGM5K9bG/2iH170uHupWj8qdkQVbfWlDVQesH593Kj+J9cb2YrIl+ZdXl/SjocwGC2kwArTjxqU+QzVuEGmrj9VJWflTvAcg7le3BzFlQaWaMSdlYEYEphHHDeJbaNnLt5u/fgj3KdsD6LiUyucy09YhyMymyEcOYIQzrO8FjQ6r2oOnufNBq1wxnYHWHK0eeR5s4qI6Iac8g3nEsqm2NJM3AmJ7CKC3eQoq80xxwZm2ZuTZ5RRcbLpYxfvg2/vVXZcImRU8cyhMCpahgdSP3L89zOE+oDegZw8bGkmEFDLtpcscFQUZM+OGzcFff96LjDKk6Bo48KmwnjnPDfMKqKpj4wbuPTWpt5ZDLADzhprp1HOLRgfJ9phj04OnngmnMUOJWqEXxrUd+t0aK4/Uux+EPdu2Fr+cfNCFfCA33DMQGTKjM62YG4cug4XtXn1MyrjlmXXUpygDgjkzEmwGKr292lhuM54HZXwwHEBKwUaizSFReVUTChnJ0BvtvFUA1lvAO9fk2k3wXnAUcYZwRlsepLIBhGD2o0pT2jCr6ujJdtta3Vil3ayKvr4eDG8qq3KJwnEmRFCMpw6HZOw5r736zeZbHyWwZ3U178hv/VGyxWiHaJOk51li4kny6ynW2G2aVmWIG/R+2FJ5uV5ygDH6l+767TIlrgK0o3TvGyhW3fdOOvZ5JGX6PNAN09IHj4EOKchzH7Trj7uceEvYfBBrGBtvDKYidaCNYlY5JgMbg/+wKzLmbWmXs4DBWcOkY9rtDttbd55pNV9AHZfbbz/GsrXrJHmOeXMzlDHsbP9GFa/i7LQTYof3SWHYc9q00+vGxnNXfUDmLk2ZQCkUJVdmOJPyTv10IJYOKfqK1ZKAwECRPz2Fuhlz4b4fnzY0+r+50JazK39VWQNwfjiZXoMZjrsqWaNNuU1tGlLrgKoRCL49aK/toRPx8appSIRPCu/Uk0sF5G3WRMYYNf/uk8K7Z42LJGihrFY2ZV4KYYznfdOydtCd06Ookq5XWrTfaj9pNrTkImOKrCRQpUAZPB2Mvs8j4V7yL5bAp9dI4PSApY83mr93Ajc9IH3nntoM1KCVd46IUTlxS7S4U8Qn0KybiSEJhbCQOUflKfWrFuhXXylQX1eLFwf7zHLlfl8hkcw2MR5tJuj5l83Df/S+IyyIKm7CtyKNTDY35xELeqcLfr4z1v/cUqKVkgAiPFlHl711RAvuOKM4riP4NbgCh/d98KOBOuhmQiPuj9wMee50YMZxHZQLWtrwVVHqhhoOYNQjmC8KvHU+3UNW33qJ6/cSliqm/1cvMY6u9lvPck96li5pfrRaMsd61qWlatUsF+DxJZQ9MSz6EyJ268gXoAwtUt1zPRB/3b/QbeKPfv4GrKNNmronAAA=&quot;"/>
    <we:property name="creatorSessionId" value="&quot;395861e2-883a-4d9e-8737-f400828cb13c&quot;"/>
    <we:property name="creatorTenantId" value="&quot;3b7939ac-b56c-4f67-a095-2db24f043c62&quot;"/>
    <we:property name="creatorUserId" value="&quot;1003200557C3AFDA&quot;"/>
    <we:property name="datasetId" value="&quot;9ead4078-c483-4f41-bb70-f138a8acaed7&quot;"/>
    <we:property name="embedUrl" value="&quot;/reportEmbed?reportId=f1285beb-622d-41ca-8bba-b88d3d86c72c&amp;config=eyJjbHVzdGVyVXJsIjoiaHR0cHM6Ly9XQUJJLU5PUlRILUVVUk9QRS1yZWRpcmVjdC5hbmFseXNpcy53aW5kb3dzLm5ldCIsImVtYmVkRmVhdHVyZXMiOnsidXNhZ2VNZXRyaWNzVk5leHQiOnRydWV9fQ%3D%3D&amp;disableSensitivityBanner=true&amp;storytellingChangeViewModeShortcutKeys=true&quot;"/>
    <we:property name="initialStateBookmark" value="&quot;H4sIAAAAAAAAA+1abW/bNhD+K4O+9IsxkBRFiv2WpB0w9HVN0X0YiuBInhwGsuTJcrYs8I/ab9gf21GW8+LYXrIknZa2QArx/e6e491zhM8TH2bTEs7ewgST58kbaBz4uvmOJ6OkWvbtv3v36s3eh1dHb/fevKTuetqGupolz8+TFpoxtp/CbA5l3IE6f/k8SqAs38M4tgooZzhKptjM6grK8AcuJ9NQ28xxMUrw92lZNxC3PGyhxbjtKU2nNp3Nv0/pRHBtOMVDdO2y14C3qSy80d4rhs6lUtK02XJCJ9nGKXHr7viDumohVHRM7MtcxoRHDkIwZIyBYTb2F6Fs+ym2N9B54pWQRkmTMZcKobXjKYv9vbE2Do+S9mwaR/f8KVQOfdLp3eBsqeZ5sjceNziGtm++vDZ4UJfzyYb+w3reOPyARTdUtaE9ixIUR0UgWycLsu77pibbd/200oX6qKrdMXZjP8yr3qAsNo/r3w4aJAR88pzHDnsWjyNEL5RTKRc5k2QlgTIDxrMsvVTugNaO6yY4OnvUGy9K9mmFpqAzm3rS7dj7W7TETclHycduS7YgZ/r5GBvs1hBqPqxM9OOaQWb9lFuYatnoTl+z0UGYe4i9dO4nKOedQ9O2rwPpQoJFbWI3TX1GH1i5AM/i9M8L+m+xjurDAHch1DpGowtgXOFyY1GBks5axpm0YhswjyHiC2jr2U4JhTCQW8t96hh90p8ylxJ+rKdvb+0zs7n9dY7NWXSd6zKvBuj7p9XHPb3vEEuKKg/hW4F6RquTi4AltemAd43HZv+sO+FFaFYxTqwrd/8IsV203aEhSkkAEZ6xsbKOiOAO8xaH/gZ/BFvi9nUXfrRYPOLtDbtvbo68sMozbbny0nqVGv+kQuoqNNwioh7CZFrio8fTHcHqZpr+dzafErexcCujH9STKTRhtt56Faoo1Sh5jUX73waAUfIhjI87ITbAZogxvd52hx6W1/RmvQexYVdQftC0uFk0Gp+X9Q1f+8JSuM0EgnV4zUI1LntWfkmQl36buHI+I8DR70NzcAxNG+m/PaEkFVkxra6/WPa6rx/EK7isI2jJyZVKoQfg7PbB7g64f+4ypkKTcZOZzGfGgtRUYrm40U7bQyfi/rxtSYRrZo9bGgDmtNNp5rhBrXzK2I2aZZ2/02QmrMIcU1QSnaCsM4zixMJff/ZBeWdZcpk4mZOF5o6ByJFplStJRdsgdDmFWNC6uPYO+uiMccOJxXumpAbBrB4INqcBTrC5GzqGm5wXnlzdaw6QpoINRJs/6grWNEl3aUJXJmXotLLOSADjDOAX1+T+ie+qSpJihrBaGarGpPHx2cM8UrV4p7R47XrrDIoUheVMCC8Zzyw+LC++A0d7FGLs7vDWQOnXYUme+5Dk+E5k4dprg9aYicyC0pIZaVnq2RD8h12RsRCe5QXz6K3RLLVM2c3X9hvB/yeCnwr9PyP4K7pT2CxjAlMhKbkyzVm69bnyG/F+isQbwWXCOGYd10QYwabpDpY8hJx+G3pyG/+Bxt8sGlCnTOU+Vy61uY0Rkulhm2NjXcAfxCDDukPbFI2OPEry3AieWxTEigxDDZmDYQPnYAJfA25b9FzCBuhMkYHMHZNccKaMlsOG7RhsaLvaFb8G9HaruwRRceu8koWk0AlKcTRq4HevDdP6CMr6BCYBq7Z+tHxieZpKV6S5MhYhzU2GfNim2fKW8RR9e7uqS7/OmJeZYow4kWeayIBCHDh42x7WniR8O5TtSYHxBjKvBSjLtc1cjgPPLjsKhacI4W51lyAKiVYIdCCFUgwtM2zg2WUijnDWhgn4ryKM7la3qzNj76X8yQSbcRdJ63k7m4LD91At34Wmy20DdvMIOqh8NFP33b1BbXh+6X5Cl3SHkOFC/5OGHQviD+tWzzX0728rvK/x4ycAAA==&quot;"/>
    <we:property name="isFiltersActionButtonVisible" value="true"/>
    <we:property name="isVisualContainerHeaderHidden" value="false"/>
    <we:property name="pageDisplayName" value="&quot;ANUNCIOS MÁS CAROS&quot;"/>
    <we:property name="pageName" value="&quot;9adb34fd97dd60ecc344&quot;"/>
    <we:property name="reportEmbeddedTime" value="&quot;2025-11-24T22:57:21.298Z&quot;"/>
    <we:property name="reportName" value="&quot;proyecto_hosting&quot;"/>
    <we:property name="reportState" value="&quot;CONNECTED&quot;"/>
    <we:property name="reportUrl" value="&quot;/groups/me/reports/f1285beb-622d-41ca-8bba-b88d3d86c72c/9adb34fd97dd60ecc344&quot;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215</TotalTime>
  <Words>569</Words>
  <Application>Microsoft Office PowerPoint</Application>
  <PresentationFormat>Panorámica</PresentationFormat>
  <Paragraphs>67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Franklin Gothic Book</vt:lpstr>
      <vt:lpstr>Recorte</vt:lpstr>
      <vt:lpstr>PROYECTO JÚPITER HOSTING</vt:lpstr>
      <vt:lpstr>POWER BI</vt:lpstr>
      <vt:lpstr>POWER BI</vt:lpstr>
      <vt:lpstr>PARÁMETROS GENERALES</vt:lpstr>
      <vt:lpstr>VARIABLES AÑADIDAS PARA MEJORAR EL ANÁLISIS</vt:lpstr>
      <vt:lpstr>POWER BI</vt:lpstr>
      <vt:lpstr>RENTABILIDAD</vt:lpstr>
      <vt:lpstr>ESTRATÉGIAS DE INVERSIÓN</vt:lpstr>
      <vt:lpstr>Presentación de PowerPoint</vt:lpstr>
      <vt:lpstr>CONCLUSIONES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JÚPITER HOSTING</dc:title>
  <dc:creator/>
  <cp:lastModifiedBy>Nuria Marti</cp:lastModifiedBy>
  <cp:revision>17</cp:revision>
  <dcterms:created xsi:type="dcterms:W3CDTF">2025-11-20T20:02:09Z</dcterms:created>
  <dcterms:modified xsi:type="dcterms:W3CDTF">2025-11-25T19:35:00Z</dcterms:modified>
</cp:coreProperties>
</file>